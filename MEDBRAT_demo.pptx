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10.xml"/>
  <Override ContentType="application/vnd.openxmlformats-officedocument.presentationml.comments+xml" PartName="/ppt/comments/comment8.xml"/>
  <Override ContentType="application/vnd.openxmlformats-officedocument.presentationml.comments+xml" PartName="/ppt/comments/comment5.xml"/>
  <Override ContentType="application/vnd.openxmlformats-officedocument.presentationml.comments+xml" PartName="/ppt/comments/comment6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9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embeddedFontLst>
    <p:embeddedFont>
      <p:font typeface="Caveat"/>
      <p:regular r:id="rId30"/>
      <p:bold r:id="rId31"/>
    </p:embeddedFont>
    <p:embeddedFont>
      <p:font typeface="Comfortaa"/>
      <p:regular r:id="rId32"/>
      <p:bold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4" name="Richman"/>
  <p:cmAuthor clrIdx="1" id="1" initials="" lastIdx="10" name="Yaroslav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Caveat-bold.fntdata"/><Relationship Id="rId30" Type="http://schemas.openxmlformats.org/officeDocument/2006/relationships/font" Target="fonts/Caveat-regular.fntdata"/><Relationship Id="rId11" Type="http://schemas.openxmlformats.org/officeDocument/2006/relationships/slide" Target="slides/slide5.xml"/><Relationship Id="rId33" Type="http://schemas.openxmlformats.org/officeDocument/2006/relationships/font" Target="fonts/Comfortaa-bold.fntdata"/><Relationship Id="rId10" Type="http://schemas.openxmlformats.org/officeDocument/2006/relationships/slide" Target="slides/slide4.xml"/><Relationship Id="rId32" Type="http://schemas.openxmlformats.org/officeDocument/2006/relationships/font" Target="fonts/Comfortaa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2-03T16:23:26.599">
    <p:pos x="6000" y="0"/>
    <p:text>проблемы нужно прям хорошо сформулировать и не только из кейса, но и в целом к чему решение применимо</p:text>
  </p:cm>
  <p:cm authorId="0" idx="2" dt="2025-12-03T16:23:26.599">
    <p:pos x="6000" y="0"/>
    <p:text>и да про БД тут не должно быть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" dt="2025-12-04T17:07:18.458">
    <p:pos x="6000" y="0"/>
    <p:text>сжать слайды с графиками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2" dt="2025-12-04T20:35:03.137">
    <p:pos x="6000" y="0"/>
    <p:text>ЗАМЕНИТЬ main agent на Analytics Agent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5-12-03T16:25:48.636">
    <p:pos x="6000" y="0"/>
    <p:text>схема должна быть на отдельном слайде, а не мешаться с текстом, сюда надо добавить ещё элементы, чтобы вся система выглядела целостной ( не забыть про добавить отдельно sql импортера)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3" dt="2025-12-04T20:03:18.243">
    <p:pos x="6000" y="0"/>
    <p:text>демонстрация работы classifier agent</p:tex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4" dt="2025-12-04T20:02:50.203">
    <p:pos x="6000" y="0"/>
    <p:text>если обратимся к 5 слайду с инфой о пациентах, увидим, что ответ правильный</p:tex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5" dt="2025-12-04T20:03:45.565">
    <p:pos x="0" y="0"/>
    <p:text>возьмем чуть посложнее</p:text>
  </p:cm>
  <p:cm authorId="1" idx="6" dt="2025-12-04T20:03:45.565">
    <p:pos x="0" y="0"/>
    <p:text>результат получился не совсем такой какой хотели</p:tex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7" dt="2025-12-05T09:38:57.110">
    <p:pos x="749" y="341"/>
    <p:text>в идеале хотелось бы видеть такой график и соответствующие ему статистики, где каждый район рассматривается по отдельности... Кстати, этот график сгенерировал наш агент при повторном аналогичном запросе
+ КОСЯК ЧТО У НАС ВМЕСТО 15 ВЫВЕЛОСЬ ТОЛЬКО 6</p:text>
  </p:cm>
</p:cmLst>
</file>

<file path=ppt/comments/comment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5-12-04T20:07:41.300">
    <p:pos x="6000" y="0"/>
    <p:text>отдельно инференс и демо</p:text>
  </p:cm>
  <p:cm authorId="1" idx="8" dt="2025-12-04T20:07:32.394">
    <p:pos x="6000" y="0"/>
    <p:text>еще пример, где агент смог выдать действительно хороший результат. правда немного съехал Ui но пох.
после такого анализа очень хочется проверить а коррелирует ли кол-во пациентов в районе с заболеваемостью.</p:text>
  </p:cm>
  <p:cm authorId="1" idx="9" dt="2025-12-04T20:07:41.300">
    <p:pos x="6000" y="0"/>
    <p:text>все круто - агент отработал</p:text>
  </p:cm>
</p:cmLst>
</file>

<file path=ppt/comments/comment10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0" dt="2025-12-04T20:19:26.902">
    <p:pos x="6000" y="0"/>
    <p:text>пример одного из очень сложных вопросов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d1c40445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d1c40445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d1c404452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d1c404452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Есть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d1c4044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ad1c4044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d1c404452_3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d1c404452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d1c404452_3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d1c404452_3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d1c404452_3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d1c404452_3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d1c404452_3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d1c404452_3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153f1ab4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153f1ab4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d1c404452_3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d1c404452_3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d1c404452_3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ad1c404452_3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ad1c40445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ad1c40445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d7e3e1795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d7e3e179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d1c404452_3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ad1c404452_3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d1c404452_3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d1c404452_3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d1c404452_3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ad1c404452_3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d1c40445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d1c40445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d1c404452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ad1c404452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d1c404452_3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ad1c404452_3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d1c404452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d1c404452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d1c40445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d1c40445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d1c40445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ad1c40445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d1c404452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ad1c404452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2.xml"/><Relationship Id="rId4" Type="http://schemas.openxmlformats.org/officeDocument/2006/relationships/image" Target="../media/image16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11" Type="http://schemas.openxmlformats.org/officeDocument/2006/relationships/image" Target="../media/image24.png"/><Relationship Id="rId10" Type="http://schemas.openxmlformats.org/officeDocument/2006/relationships/image" Target="../media/image1.png"/><Relationship Id="rId12" Type="http://schemas.openxmlformats.org/officeDocument/2006/relationships/image" Target="../media/image14.png"/><Relationship Id="rId9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3.xml"/><Relationship Id="rId4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4.xml"/><Relationship Id="rId4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5.xml"/><Relationship Id="rId4" Type="http://schemas.openxmlformats.org/officeDocument/2006/relationships/hyperlink" Target="http://drive.google.com/file/d/1vbNkQ6PYUsVP14q94wp7gibiBPyf3PtY/view" TargetMode="External"/><Relationship Id="rId5" Type="http://schemas.openxmlformats.org/officeDocument/2006/relationships/image" Target="../media/image2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6.xml"/><Relationship Id="rId4" Type="http://schemas.openxmlformats.org/officeDocument/2006/relationships/image" Target="../media/image16.png"/><Relationship Id="rId5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7.xml"/><Relationship Id="rId4" Type="http://schemas.openxmlformats.org/officeDocument/2006/relationships/hyperlink" Target="http://drive.google.com/file/d/1B6BGsJV42tmzeHc86uPwmTYRuY4osj0R/view" TargetMode="External"/><Relationship Id="rId5" Type="http://schemas.openxmlformats.org/officeDocument/2006/relationships/image" Target="../media/image2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comments" Target="../comments/comment8.xml"/><Relationship Id="rId4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9.xml"/><Relationship Id="rId4" Type="http://schemas.openxmlformats.org/officeDocument/2006/relationships/hyperlink" Target="http://drive.google.com/file/d/1yar25Qga7rkQygSvlJxPl1vBaUABqNoe/view" TargetMode="External"/><Relationship Id="rId5" Type="http://schemas.openxmlformats.org/officeDocument/2006/relationships/image" Target="../media/image2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Relationship Id="rId4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omments" Target="../comments/comment10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654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latin typeface="Comfortaa"/>
                <a:ea typeface="Comfortaa"/>
                <a:cs typeface="Comfortaa"/>
                <a:sym typeface="Comfortaa"/>
              </a:rPr>
              <a:t>ПЯТНИЧНЫЙ РЕЛИЗ</a:t>
            </a:r>
            <a:endParaRPr b="1" sz="530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806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github.com/20twomay/ai-med-brat</a:t>
            </a:r>
            <a:endParaRPr sz="1400"/>
          </a:p>
        </p:txBody>
      </p:sp>
      <p:sp>
        <p:nvSpPr>
          <p:cNvPr id="56" name="Google Shape;56;p13"/>
          <p:cNvSpPr txBox="1"/>
          <p:nvPr/>
        </p:nvSpPr>
        <p:spPr>
          <a:xfrm rot="-190548">
            <a:off x="2169692" y="2254958"/>
            <a:ext cx="4722052" cy="112373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6100">
                <a:solidFill>
                  <a:srgbClr val="FF0000"/>
                </a:solidFill>
                <a:latin typeface="Caveat"/>
                <a:ea typeface="Caveat"/>
                <a:cs typeface="Caveat"/>
                <a:sym typeface="Caveat"/>
              </a:rPr>
              <a:t>MEDBRAT.AI</a:t>
            </a:r>
            <a:endParaRPr b="1" i="1" sz="6100">
              <a:solidFill>
                <a:srgbClr val="FF0000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0" y="251525"/>
            <a:ext cx="8520600" cy="10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fortaa"/>
                <a:ea typeface="Comfortaa"/>
                <a:cs typeface="Comfortaa"/>
                <a:sym typeface="Comfortaa"/>
              </a:rPr>
              <a:t>Команда</a:t>
            </a:r>
            <a:endParaRPr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584313" y="3536400"/>
            <a:ext cx="2519700" cy="8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Матюшенко</a:t>
            </a:r>
            <a:endParaRPr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Ярослав</a:t>
            </a:r>
            <a:endParaRPr sz="1800"/>
          </a:p>
        </p:txBody>
      </p:sp>
      <p:sp>
        <p:nvSpPr>
          <p:cNvPr id="63" name="Google Shape;63;p14"/>
          <p:cNvSpPr txBox="1"/>
          <p:nvPr/>
        </p:nvSpPr>
        <p:spPr>
          <a:xfrm>
            <a:off x="2175138" y="1490250"/>
            <a:ext cx="51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DS</a:t>
            </a:r>
            <a:endParaRPr i="1"/>
          </a:p>
        </p:txBody>
      </p:sp>
      <p:sp>
        <p:nvSpPr>
          <p:cNvPr id="64" name="Google Shape;64;p14"/>
          <p:cNvSpPr txBox="1"/>
          <p:nvPr/>
        </p:nvSpPr>
        <p:spPr>
          <a:xfrm>
            <a:off x="4855763" y="1545050"/>
            <a:ext cx="56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DS</a:t>
            </a:r>
            <a:endParaRPr i="1"/>
          </a:p>
        </p:txBody>
      </p:sp>
      <p:pic>
        <p:nvPicPr>
          <p:cNvPr id="65" name="Google Shape;65;p14" title="free-icon-person-143615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5987" y="1490250"/>
            <a:ext cx="2056349" cy="2056349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3077913" y="3536400"/>
            <a:ext cx="2519700" cy="8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Паюнен</a:t>
            </a:r>
            <a:endParaRPr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Денис</a:t>
            </a:r>
            <a:endParaRPr sz="2600"/>
          </a:p>
        </p:txBody>
      </p:sp>
      <p:pic>
        <p:nvPicPr>
          <p:cNvPr id="67" name="Google Shape;67;p14" title="free-icon-person-143615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9588" y="1490250"/>
            <a:ext cx="2056349" cy="205634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 txBox="1"/>
          <p:nvPr/>
        </p:nvSpPr>
        <p:spPr>
          <a:xfrm>
            <a:off x="7405288" y="1545050"/>
            <a:ext cx="1154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dk2"/>
                </a:solidFill>
              </a:rPr>
              <a:t>Backend</a:t>
            </a:r>
            <a:endParaRPr i="1"/>
          </a:p>
        </p:txBody>
      </p:sp>
      <p:sp>
        <p:nvSpPr>
          <p:cNvPr id="69" name="Google Shape;69;p14"/>
          <p:cNvSpPr txBox="1"/>
          <p:nvPr>
            <p:ph idx="1" type="subTitle"/>
          </p:nvPr>
        </p:nvSpPr>
        <p:spPr>
          <a:xfrm>
            <a:off x="5803188" y="3591200"/>
            <a:ext cx="2519700" cy="84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Турсунов</a:t>
            </a:r>
            <a:endParaRPr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Имран</a:t>
            </a:r>
            <a:endParaRPr sz="2600"/>
          </a:p>
        </p:txBody>
      </p:sp>
      <p:pic>
        <p:nvPicPr>
          <p:cNvPr id="70" name="Google Shape;70;p14" title="free-icon-person-14361523.png"/>
          <p:cNvPicPr preferRelativeResize="0"/>
          <p:nvPr/>
        </p:nvPicPr>
        <p:blipFill rotWithShape="1">
          <a:blip r:embed="rId3">
            <a:alphaModFix/>
          </a:blip>
          <a:srcRect b="0" l="0" r="17115" t="16888"/>
          <a:stretch/>
        </p:blipFill>
        <p:spPr>
          <a:xfrm>
            <a:off x="6034863" y="1892325"/>
            <a:ext cx="1704325" cy="170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220">
                <a:latin typeface="Comfortaa"/>
                <a:ea typeface="Comfortaa"/>
                <a:cs typeface="Comfortaa"/>
                <a:sym typeface="Comfortaa"/>
              </a:rPr>
              <a:t>Кейс</a:t>
            </a:r>
            <a:endParaRPr sz="3220"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152475"/>
            <a:ext cx="4019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Всего 4 таблицы:</a:t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Пациенты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МКБ-10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Медикаменты</a:t>
            </a:r>
            <a:endParaRPr/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/>
              <a:t>Выписанные рецепты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Нужно научиться получать и визуализировать данные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383125"/>
            <a:ext cx="85206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Данные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960625"/>
            <a:ext cx="8520600" cy="38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379076 пациентов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28 районов СПб и ЛО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14801 МКБ-10 диагнозов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2028 препаратов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Почти 1 млн выписанных рецептов за 6 лет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383125"/>
            <a:ext cx="85206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Распределение пациентов</a:t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9916" y="1237875"/>
            <a:ext cx="3692859" cy="266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725" y="1237863"/>
            <a:ext cx="4267188" cy="2667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383125"/>
            <a:ext cx="85206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Распределение рецептов</a:t>
            </a:r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200" y="1136625"/>
            <a:ext cx="3717024" cy="330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3769" y="1136625"/>
            <a:ext cx="3582331" cy="330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383125"/>
            <a:ext cx="85206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Распределение рецептов</a:t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8475" y="1162088"/>
            <a:ext cx="3902675" cy="281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1157" y="1162100"/>
            <a:ext cx="3843919" cy="28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9030" y="1756183"/>
            <a:ext cx="2618932" cy="320849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0"/>
          <p:cNvSpPr txBox="1"/>
          <p:nvPr>
            <p:ph type="ctrTitle"/>
          </p:nvPr>
        </p:nvSpPr>
        <p:spPr>
          <a:xfrm>
            <a:off x="1055100" y="233300"/>
            <a:ext cx="7033800" cy="78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Наш стек</a:t>
            </a:r>
            <a:endParaRPr sz="4700"/>
          </a:p>
        </p:txBody>
      </p:sp>
      <p:pic>
        <p:nvPicPr>
          <p:cNvPr id="110" name="Google Shape;110;p20"/>
          <p:cNvPicPr preferRelativeResize="0"/>
          <p:nvPr/>
        </p:nvPicPr>
        <p:blipFill rotWithShape="1">
          <a:blip r:embed="rId4">
            <a:alphaModFix/>
          </a:blip>
          <a:srcRect b="40720" l="0" r="0" t="40822"/>
          <a:stretch/>
        </p:blipFill>
        <p:spPr>
          <a:xfrm>
            <a:off x="1952275" y="1681116"/>
            <a:ext cx="2014700" cy="371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22186" y="1107519"/>
            <a:ext cx="1800108" cy="648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5575" y="1312888"/>
            <a:ext cx="2500715" cy="131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38449" y="1075025"/>
            <a:ext cx="1800105" cy="105298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0"/>
          <p:cNvSpPr/>
          <p:nvPr/>
        </p:nvSpPr>
        <p:spPr>
          <a:xfrm>
            <a:off x="5332225" y="3264475"/>
            <a:ext cx="2265000" cy="1053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80315" y="3157383"/>
            <a:ext cx="1945989" cy="64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396701" y="3657304"/>
            <a:ext cx="2113225" cy="5660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724575" y="1054849"/>
            <a:ext cx="1450825" cy="109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87475" y="959600"/>
            <a:ext cx="1093325" cy="109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32925" y="1748223"/>
            <a:ext cx="1908100" cy="1647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ctrTitle"/>
          </p:nvPr>
        </p:nvSpPr>
        <p:spPr>
          <a:xfrm>
            <a:off x="1055100" y="118300"/>
            <a:ext cx="7033800" cy="78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А</a:t>
            </a:r>
            <a:r>
              <a:rPr lang="en" sz="4700"/>
              <a:t>рхитектура системы</a:t>
            </a:r>
            <a:endParaRPr sz="4700"/>
          </a:p>
        </p:txBody>
      </p:sp>
      <p:pic>
        <p:nvPicPr>
          <p:cNvPr id="125" name="Google Shape;125;p21" title="Диаграмма без названия.drawio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13400" y="980275"/>
            <a:ext cx="6317200" cy="405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/>
        </p:nvSpPr>
        <p:spPr>
          <a:xfrm>
            <a:off x="311700" y="1053875"/>
            <a:ext cx="4493700" cy="3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Выполняет безопасное преобразование БД заказчика</a:t>
            </a:r>
            <a:r>
              <a:rPr lang="en" sz="1800">
                <a:solidFill>
                  <a:schemeClr val="dk2"/>
                </a:solidFill>
              </a:rPr>
              <a:t> в готовый формат </a:t>
            </a:r>
            <a:r>
              <a:rPr lang="en" sz="1800">
                <a:solidFill>
                  <a:schemeClr val="dk2"/>
                </a:solidFill>
              </a:rPr>
              <a:t>для интеграции в нашу систему.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Работает в нескольких базах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383125"/>
            <a:ext cx="85206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Safe Data Export Agent</a:t>
            </a:r>
            <a:endParaRPr/>
          </a:p>
        </p:txBody>
      </p:sp>
      <p:pic>
        <p:nvPicPr>
          <p:cNvPr id="132" name="Google Shape;13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2050" y="960625"/>
            <a:ext cx="3376075" cy="316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383125"/>
            <a:ext cx="85206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ДЕМО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Показываем начальные данные</a:t>
            </a:r>
            <a:endParaRPr/>
          </a:p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Настройка агента</a:t>
            </a:r>
            <a:endParaRPr/>
          </a:p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Запуск агента и его работа</a:t>
            </a:r>
            <a:endParaRPr/>
          </a:p>
          <a:p>
            <a:pPr indent="-388620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Результаты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16175" y="668326"/>
            <a:ext cx="4116125" cy="380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4"/>
          <p:cNvSpPr txBox="1"/>
          <p:nvPr/>
        </p:nvSpPr>
        <p:spPr>
          <a:xfrm>
            <a:off x="311700" y="1053875"/>
            <a:ext cx="4316400" cy="3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Получает данные из БД, визуализирует и интерпретирует полученный результат.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Агент классификатор (router) опционально уточняет запрос, определяет его валидность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А</a:t>
            </a:r>
            <a:r>
              <a:rPr lang="en" sz="1800">
                <a:solidFill>
                  <a:schemeClr val="dk2"/>
                </a:solidFill>
              </a:rPr>
              <a:t>гент аналитик (assistant) планирует, выполняет и суммаризирует результат.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4" name="Google Shape;144;p24"/>
          <p:cNvSpPr txBox="1"/>
          <p:nvPr>
            <p:ph type="title"/>
          </p:nvPr>
        </p:nvSpPr>
        <p:spPr>
          <a:xfrm>
            <a:off x="311700" y="383125"/>
            <a:ext cx="85206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Analytics Agent &amp; </a:t>
            </a:r>
            <a:r>
              <a:rPr lang="en"/>
              <a:t>Classificator Agent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5" title="Desktop 2025.12.04 - 15 (online-video-cutter.com) (2)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0" cy="5143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type="title"/>
          </p:nvPr>
        </p:nvSpPr>
        <p:spPr>
          <a:xfrm>
            <a:off x="311700" y="383125"/>
            <a:ext cx="85206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Распределение пациентов</a:t>
            </a:r>
            <a:endParaRPr/>
          </a:p>
        </p:txBody>
      </p:sp>
      <p:pic>
        <p:nvPicPr>
          <p:cNvPr id="155" name="Google Shape;155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9916" y="1237875"/>
            <a:ext cx="3692859" cy="266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725" y="1237863"/>
            <a:ext cx="4267188" cy="26677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7" title="2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9400" y="542188"/>
            <a:ext cx="6765200" cy="4059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9" title="3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idx="4294967295" type="title"/>
          </p:nvPr>
        </p:nvSpPr>
        <p:spPr>
          <a:xfrm>
            <a:off x="311700" y="383125"/>
            <a:ext cx="85206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Бенчмарк</a:t>
            </a:r>
            <a:endParaRPr/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9787" y="2571745"/>
            <a:ext cx="2890650" cy="2259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8950" y="383125"/>
            <a:ext cx="2852325" cy="218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0"/>
          <p:cNvSpPr txBox="1"/>
          <p:nvPr/>
        </p:nvSpPr>
        <p:spPr>
          <a:xfrm>
            <a:off x="386625" y="1047900"/>
            <a:ext cx="4944000" cy="31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Мы собрали датасет из 42 вопросов: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20 простых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13 средней сложности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6 сложных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4 очень сложных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Сложность вопроса оценивалась по наличию аббревиатур, кол-ву задействованных таблиц.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/>
        </p:nvSpPr>
        <p:spPr>
          <a:xfrm>
            <a:off x="537000" y="216750"/>
            <a:ext cx="8070000" cy="4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Вопрос: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Топ-5 препаратов по количеству назначений в первые 30 дней после постановки диагноза инфаркт миокарда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Ответ:</a:t>
            </a:r>
            <a:endParaRPr b="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Топ-5 препаратов по количеству назначений в первые 30 дней после инфаркта миокарда: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1. Зилт - 4 назначения (80% от общего количества)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2. Бисопролол - 1 назначение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3. Брилинта - 1 назначение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4. Аторвастатин - 1 назначение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5. Ксарелто - 1 назначение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Выводы: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- Препарат Зилт доминирует в назначениях, составляя 80% всех назначений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- Остальные препараты назначаются равномерно по одному разу каждый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- Построен график распределения назначений, демонстрирующий значительное превосходство Зилта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Весь анализ проводился для диагноза "инфаркт миокарда" (код I21) с учетом временного ограничения первые 30 дней после постановки диагноза.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idx="4294967295" type="title"/>
          </p:nvPr>
        </p:nvSpPr>
        <p:spPr>
          <a:xfrm>
            <a:off x="311700" y="383125"/>
            <a:ext cx="8520600" cy="5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Экономика и производительность</a:t>
            </a:r>
            <a:endParaRPr/>
          </a:p>
        </p:txBody>
      </p:sp>
      <p:sp>
        <p:nvSpPr>
          <p:cNvPr id="190" name="Google Shape;190;p32"/>
          <p:cNvSpPr txBox="1"/>
          <p:nvPr/>
        </p:nvSpPr>
        <p:spPr>
          <a:xfrm>
            <a:off x="311700" y="960625"/>
            <a:ext cx="8147700" cy="25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В среднем один запрос занимает около 30 секунд.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-"/>
            </a:pPr>
            <a:r>
              <a:rPr lang="en" sz="1800">
                <a:solidFill>
                  <a:schemeClr val="dk2"/>
                </a:solidFill>
              </a:rPr>
              <a:t>Стоимость 1000 запросов 216 рублей, при использовании ТОЛЬКО Qwen 3B Coder.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Оценка</a:t>
            </a:r>
            <a:endParaRPr/>
          </a:p>
        </p:txBody>
      </p:sp>
      <p:sp>
        <p:nvSpPr>
          <p:cNvPr id="196" name="Google Shape;196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Сильные места: скорость, цена, Safe Data Export Agent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Слабые места: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ДОПИШИТЕ ПЖ ЗА МЕНЯ, НИЧЕГО ВЫСРАТЬ НЕ МОГУ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Предстоящая работа</a:t>
            </a:r>
            <a:endParaRPr/>
          </a:p>
        </p:txBody>
      </p:sp>
      <p:sp>
        <p:nvSpPr>
          <p:cNvPr id="202" name="Google Shape;202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Workflow для прогнозирования на исторических данных и интерпретацией с использованием open-source </a:t>
            </a:r>
            <a:r>
              <a:rPr lang="en"/>
              <a:t>AutoML фреймворков.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Few-Shorts RAG для повышения метрик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Оптимизация workflow путем промпт-инжиниринга и заменой LLM моделей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СПАСИБО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